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920240"/>
            <a:ext cx="4754880" cy="4754880"/>
          </a:xfrm>
          <a:prstGeom prst="ellipse">
            <a:avLst/>
          </a:prstGeom>
          <a:ln w="19050">
            <a:solidFill>
              <a:srgbClr val="17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097280"/>
            <a:ext cx="3108960" cy="3108960"/>
          </a:xfrm>
          <a:prstGeom prst="ellipse">
            <a:avLst/>
          </a:prstGeom>
          <a:ln w="12700">
            <a:solidFill>
              <a:srgbClr val="E5A8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ln w="19050">
            <a:solidFill>
              <a:srgbClr val="17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548640"/>
            <a:ext cx="2796645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704088"/>
            <a:ext cx="2357733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HEALTHCARE RCM TALENT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platform that proves a candidate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real, trained, and certified —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before a company ever sees them.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how the system works — for candidates, companies, academies, and the Talentera team.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62356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Verification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562356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912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Connected Portals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55280" y="562356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Credential Checks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TALENTERA EXISTS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Hiring in medical coding has a trust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RCM industry loses time and money to profiles that can't be trusted. Companies can't tell a real, qualified candidate from a fabricated one until it's too late.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07208"/>
            <a:ext cx="822960" cy="82296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3021178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734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&amp; duplicate profiles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311810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candidate submitted by multiple consultancies, or invented entirely.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5146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807208"/>
            <a:ext cx="822960" cy="82296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302117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734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Photoshopped certificates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311810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AAPC / AHIMA credentials faked in minutes and passed off as genuine.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407408"/>
            <a:ext cx="822960" cy="82296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62137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mix-ups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920240" y="471830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confirm the person behind a resume is who they claim to be.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1148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407408"/>
            <a:ext cx="822960" cy="82296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621378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5236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skills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452360" y="471830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claim experience and scores that no one has actually checked.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Image 4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verified pool of talent companies can trust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Talentera puts every candidate through an 8-stage verification pipeline — identity, training, certification, skills, and interviews. Only what's actually proven earns points.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then hire from a pool where every badge means something — because the Talentera team, not the candidate or their academy, confirms the hard-to-fake steps by hand.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526280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47164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4846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"Real, trained, certified — proven before a company ever sees them."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155448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4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20840" y="18745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1874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verification score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20840" y="2843784"/>
            <a:ext cx="4572000" cy="0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28986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289864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verification stages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3867912"/>
            <a:ext cx="4572000" cy="0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392277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75+</a:t>
            </a:r>
            <a:endParaRPr lang="en-US" sz="46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the Talentera Verified gold badge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20840" y="4892040"/>
            <a:ext cx="4572000" cy="0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20840" y="494690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90%+</a:t>
            </a:r>
            <a:endParaRPr lang="en-US" sz="46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494690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unlock job search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4" name="Image 1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portals, one connected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03120"/>
            <a:ext cx="914400" cy="914400"/>
          </a:xfrm>
          <a:prstGeom prst="ellipse">
            <a:avLst/>
          </a:prstGeom>
          <a:solidFill>
            <a:srgbClr val="FBF3E2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Candidates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554480" y="3611880"/>
            <a:ext cx="822960" cy="0"/>
          </a:xfrm>
          <a:prstGeom prst="line">
            <a:avLst/>
          </a:prstGeom>
          <a:noFill/>
          <a:ln w="25400">
            <a:solidFill>
              <a:srgbClr val="E5A8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37490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Job-seekers in medical coding / RCM who build a verified profile and apply for jobs.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56432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2103120"/>
            <a:ext cx="914400" cy="914400"/>
          </a:xfrm>
          <a:prstGeom prst="ellipse">
            <a:avLst/>
          </a:prstGeom>
          <a:solidFill>
            <a:srgbClr val="EAF0F8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340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Companies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370832" y="3611880"/>
            <a:ext cx="822960" cy="0"/>
          </a:xfrm>
          <a:prstGeom prst="line">
            <a:avLst/>
          </a:prstGeom>
          <a:noFill/>
          <a:ln w="25400">
            <a:solidFill>
              <a:srgbClr val="E5A82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12464" y="37490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who post jobs, search the verified pool, and manage applicants.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72784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41464" y="2103120"/>
            <a:ext cx="914400" cy="914400"/>
          </a:xfrm>
          <a:prstGeom prst="ellipse">
            <a:avLst/>
          </a:prstGeom>
          <a:solidFill>
            <a:srgbClr val="FBF3E2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3408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Academies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7187184" y="3611880"/>
            <a:ext cx="822960" cy="0"/>
          </a:xfrm>
          <a:prstGeom prst="line">
            <a:avLst/>
          </a:prstGeom>
          <a:noFill/>
          <a:ln w="25400">
            <a:solidFill>
              <a:srgbClr val="E5A82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528816" y="37490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partners who register students, track placements, and showcase graduate quality.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89136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57816" y="2103120"/>
            <a:ext cx="914400" cy="914400"/>
          </a:xfrm>
          <a:prstGeom prst="ellipse">
            <a:avLst/>
          </a:prstGeom>
          <a:solidFill>
            <a:srgbClr val="EAF0F8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34086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Talentera Staff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10003536" y="3611880"/>
            <a:ext cx="822960" cy="0"/>
          </a:xfrm>
          <a:prstGeom prst="line">
            <a:avLst/>
          </a:prstGeom>
          <a:noFill/>
          <a:ln w="25400">
            <a:solidFill>
              <a:srgbClr val="E5A82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345168" y="37490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team that audits documents, approves jobs, and runs the platform.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9" name="Image 4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sign-up to hire — the full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0888" y="18745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5328" y="2258568"/>
            <a:ext cx="914400" cy="91440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072" y="2496312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3768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Candidate verifies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93496" y="384048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completes all 8 stages themselves — identity, training, certification, assessment and interviews.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56" y="3246120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04208" y="18745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38648" y="2258568"/>
            <a:ext cx="914400" cy="91440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92" y="2496312"/>
            <a:ext cx="438912" cy="4389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87088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Talentera staff confirm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696816" y="384048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Talentera team hand-checks the documents and credentials that can't be auto-trusted, and confirms each one.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76" y="3246120"/>
            <a:ext cx="283464" cy="28346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07528" y="18745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341968" y="2258568"/>
            <a:ext cx="914400" cy="91440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712" y="2496312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90408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Company hires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400136" y="384048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search the verified pool and shortlist candidates whose badges the Talentera team stands behind.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00888" y="525780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0A1F3D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56920" y="5468112"/>
            <a:ext cx="548640" cy="54864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566" y="5610758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61008" y="5321808"/>
            <a:ext cx="9555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 take part separately.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register and track their own students through a partner portal — but they never confirm a candidate's verification. Only the Talentera team does that.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8-stage verification journey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worth points. Together they add up to a 100-point verification score — the higher the score, the stronger the candidate looks to employers.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5973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4963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044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Info + Aadhaar OTP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56432" y="2240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45973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85032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249631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85032" y="3044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+ Training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685032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85032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72784" y="2240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01384" y="245973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01384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249631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01384" y="3044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AAPC / AHIMA Certification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501384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501384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089136" y="2240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317736" y="245973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317736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2496312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317736" y="3044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Talentera Skills Assessment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9317736" y="3566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9317736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40080" y="4114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68680" y="433425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686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7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4370832"/>
            <a:ext cx="411480" cy="4114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68680" y="4919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+ Video Interview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868680" y="5440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68680" y="5440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3456432" y="4114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685032" y="433425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368503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7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4370832"/>
            <a:ext cx="411480" cy="41148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3685032" y="4919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 Exposure</a:t>
            </a:r>
            <a:endParaRPr lang="en-US" sz="1350" dirty="0"/>
          </a:p>
        </p:txBody>
      </p:sp>
      <p:sp>
        <p:nvSpPr>
          <p:cNvPr id="45" name="Shape 37"/>
          <p:cNvSpPr/>
          <p:nvPr/>
        </p:nvSpPr>
        <p:spPr>
          <a:xfrm>
            <a:off x="3685032" y="5440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3685032" y="5440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6272784" y="4114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501384" y="433425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650138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7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4370832"/>
            <a:ext cx="411480" cy="4114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501384" y="4919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Verified Resume</a:t>
            </a:r>
            <a:endParaRPr lang="en-US" sz="1350" dirty="0"/>
          </a:p>
        </p:txBody>
      </p:sp>
      <p:sp>
        <p:nvSpPr>
          <p:cNvPr id="52" name="Shape 43"/>
          <p:cNvSpPr/>
          <p:nvPr/>
        </p:nvSpPr>
        <p:spPr>
          <a:xfrm>
            <a:off x="6501384" y="5440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501384" y="5440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9089136" y="4114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9317736" y="4334256"/>
            <a:ext cx="457200" cy="45720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9317736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7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5096" y="4370832"/>
            <a:ext cx="411480" cy="41148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9317736" y="4919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 Track</a:t>
            </a:r>
            <a:endParaRPr lang="en-US" sz="1350" dirty="0"/>
          </a:p>
        </p:txBody>
      </p:sp>
      <p:sp>
        <p:nvSpPr>
          <p:cNvPr id="59" name="Shape 49"/>
          <p:cNvSpPr/>
          <p:nvPr/>
        </p:nvSpPr>
        <p:spPr>
          <a:xfrm>
            <a:off x="9317736" y="5440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9317736" y="5440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150" dirty="0"/>
          </a:p>
        </p:txBody>
      </p:sp>
      <p:sp>
        <p:nvSpPr>
          <p:cNvPr id="61" name="Text 51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62" name="Image 8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Stages 1–4 · proving who you are &amp; what you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92224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72768" y="1792224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414" y="19348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331720" y="1719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Info + Aadhaar OTP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70078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identity check through UIDAI. Name, mobile and email are OTP-verified; your Aadhaar number is never re-exposed.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72491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62656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572768" y="2962656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14" y="310530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31720" y="28895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+ Training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577840" y="2871216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your academy, course and trainer. The Talentera team confirms it — academies don't self-approve their own students.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89534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133088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1572768" y="413308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14" y="4275734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331720" y="405993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AAPC / AHIMA Certification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577840" y="4041648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CPC / CCS / CRC credential is checked directly against the official member directories — uploads alone aren't trusted.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065776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686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1572768" y="530352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14" y="5446166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331720" y="5230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Talentera Skills Assessment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577840" y="521208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timed, single-attempt medical-coding test. The biggest scoring stage (25 pts) — it proves real ability, not claims.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33" name="Image 4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Stages 5–8 · communication, exposure &amp; the resume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92224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72768" y="1792224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414" y="19348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331720" y="17190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+ Video Interview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70078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AI-guided spoken interview scores clarity and confidence — no staff needed, judged on how you communicate.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72491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62656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572768" y="2962656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14" y="310530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31720" y="28895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 Exposure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577840" y="2871216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real medical charts, showing comfort with the documents coders work on daily.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89534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133088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1572768" y="4133088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14" y="4275734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331720" y="405993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Verified Resume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577840" y="4041648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 auto-built from everything already verified — no unbacked claims. (The one optional stage.)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065776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0A1F3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686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1572768" y="5303520"/>
            <a:ext cx="548640" cy="548640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14" y="5446166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331720" y="5230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 Track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577840" y="521208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to interview plus optional AI mock-interview practice, so candidates arrive interview-ready.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3" name="Image 4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score &amp; what it unlocks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4343400"/>
          </a:xfrm>
          <a:prstGeom prst="roundRect">
            <a:avLst>
              <a:gd name="adj" fmla="val 2105"/>
            </a:avLst>
          </a:prstGeom>
          <a:solidFill>
            <a:srgbClr val="F4F6FA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score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A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</a:t>
            </a:r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/ 100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4389120" cy="310896"/>
          </a:xfrm>
          <a:prstGeom prst="roundRect">
            <a:avLst>
              <a:gd name="adj" fmla="val 50000"/>
            </a:avLst>
          </a:prstGeom>
          <a:solidFill>
            <a:srgbClr val="E4E9F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33756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5A82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0A1F3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4134002"/>
            <a:ext cx="373075" cy="37307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2880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Talentera Verified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badge — earned at 75 points and above.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0292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only awarded for stages that are genuinely verified — a failed or unverified step earns nothing.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score unlocks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43600" y="2148840"/>
            <a:ext cx="55778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2423160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033" y="2570561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49440" y="22951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verified pool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26243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8 stages and your profile enters the pool companies search every day.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43600" y="3447288"/>
            <a:ext cx="55778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9632" y="3721608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33" y="3869009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49440" y="35935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unlocks at 90%+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39227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 only search and apply for jobs once fully verified and scoring above 90% — enforced for real, not just on screen.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943600" y="4745736"/>
            <a:ext cx="55778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99632" y="5020056"/>
            <a:ext cx="566928" cy="566928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033" y="5167457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49440" y="4892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see proof, not claims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6949440" y="522122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badge, academy and certification status travel with you — all backed by verification.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31" name="Image 4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employers hire on Talentera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615" y="2019727"/>
            <a:ext cx="386243" cy="3862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01952" y="1737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&amp; complete KYC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01952" y="2103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register through a guided onboarding and verify their business (PAN / GSTIN) before they can 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10512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35" y="2019727"/>
            <a:ext cx="386243" cy="3862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4072" y="1737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— staff approved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34072" y="2103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posting is reviewed by the Talentera team before it reaches the public board. No spam, no fake roles.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044952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00984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15" y="3510199"/>
            <a:ext cx="386243" cy="3862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01952" y="3227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verified pool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901952" y="35935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candidates by specialty, city, academy and verification score to find exactly the right coder.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044952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300984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35" y="3510199"/>
            <a:ext cx="386243" cy="3862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3227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applicants (ATS)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35935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applications end-to-end, with status updates sent to candidates automatically.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535424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791456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615" y="5000671"/>
            <a:ext cx="386243" cy="3862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901952" y="47183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stay masked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901952" y="50840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candidate's phone and email stay hidden until the company is KYC-verified and actively shortlists them.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72200" y="4535424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4791456"/>
            <a:ext cx="804672" cy="804672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735" y="5000671"/>
            <a:ext cx="386243" cy="3862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434072" y="47183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434072" y="50840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rejections and new applicants all flow through the built-in notification bell.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5" name="Image 6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ACADEMIES (USERS)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training partners plug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0A1F3D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057400"/>
            <a:ext cx="914400" cy="91440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separate partner portal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40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 register and track their students on Talentera. The verification itself is always confirmed by the Talentera team — never self-approved by the academy.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645920"/>
            <a:ext cx="6720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865376"/>
            <a:ext cx="530352" cy="530352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92" y="2003268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42432" y="17739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their enrolled students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177393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lists every candidate who named the academy in their training stage.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00600" y="2743200"/>
            <a:ext cx="6720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0" y="2962656"/>
            <a:ext cx="530352" cy="530352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092" y="3100548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742432" y="28712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roster upload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287121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whole student roster at once instead of adding names one by one.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840480"/>
            <a:ext cx="6720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4059936"/>
            <a:ext cx="530352" cy="530352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092" y="419782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42432" y="3968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placements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549640" y="396849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which of their graduates get verified and placed through the platform.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800600" y="4937760"/>
            <a:ext cx="6720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29200" y="5157216"/>
            <a:ext cx="530352" cy="530352"/>
          </a:xfrm>
          <a:prstGeom prst="ellipse">
            <a:avLst/>
          </a:prstGeom>
          <a:solidFill>
            <a:srgbClr val="FBF3E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092" y="529510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742432" y="50657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graduate quality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8549640" y="506577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count of verified, placed alumni becomes a credibility signal for the academy.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0" name="Image 5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TALENTERA STAFF (ADMINS)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Operations Hub — where the platform is run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Talentera team is the only authority that confirms a candidate's verification.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311603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queues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review queues for candidate KYC, certifications and job-post approvals — each with its own inbox.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1828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212140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47" y="231160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credential verify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personally confirm a certificate on the real AAPC / AHIMA site; the app captures the evidence.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18288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12140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099" y="231160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44584" y="2139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bank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write the exact questions — and correct answers — the AI asks candidates. Answer keys never leak.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422452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4414723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42428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 approvals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14400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employer job is approved or rejected here before it goes live to candidates.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70832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45152" y="422452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347" y="4414723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13832" y="42428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4645152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view of the verification funnel — how many candidates sit at each stage.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01584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0A1F3D"/>
          </a:solidFill>
          <a:ln w="12700">
            <a:solidFill>
              <a:srgbClr val="17304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75904" y="4224528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099" y="4414723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44584" y="42428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34" name="Text 26"/>
          <p:cNvSpPr txBox="1"/>
          <p:nvPr/>
        </p:nvSpPr>
        <p:spPr>
          <a:xfrm>
            <a:off x="8375904" y="5029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staff action is recorded — who verified what, and when.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Privacy — who sees what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never means exposure. Talentera proves a candidate is genuine while keeping their sensitive data protected.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731520" cy="731520"/>
          </a:xfrm>
          <a:prstGeom prst="ellipse">
            <a:avLst/>
          </a:prstGeom>
          <a:solidFill>
            <a:srgbClr val="EAF6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6133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companies see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472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3401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city (not full address)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142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98448" y="3968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badge &amp; score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811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98448" y="45354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and certification status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480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98448" y="51023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and assessment results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172200" y="214884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0A1F3D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446520" y="2423160"/>
            <a:ext cx="731520" cy="731520"/>
          </a:xfrm>
          <a:prstGeom prst="ellipse">
            <a:avLst/>
          </a:prstGeom>
          <a:solidFill>
            <a:srgbClr val="E5A82E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715" y="2613355"/>
            <a:ext cx="351130" cy="35113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15200" y="2542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stays private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44728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830568" y="3401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number — hashed, never re-shown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014216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830568" y="3968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member ID — only last 4 digits kept</a:t>
            </a:r>
            <a:endParaRPr lang="en-US" sz="13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581144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830568" y="45354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email — masked until shortlisted</a:t>
            </a:r>
            <a:endParaRPr lang="en-US" sz="13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5148072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830568" y="51023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only after KYC + active interest</a:t>
            </a:r>
            <a:endParaRPr lang="en-US" sz="1350" dirty="0"/>
          </a:p>
        </p:txBody>
      </p:sp>
      <p:sp>
        <p:nvSpPr>
          <p:cNvPr id="29" name="Text 17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0" name="Image 10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each group gains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4251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65960"/>
            <a:ext cx="822960" cy="822960"/>
          </a:xfrm>
          <a:prstGeom prst="ellipse">
            <a:avLst/>
          </a:prstGeom>
          <a:solidFill>
            <a:srgbClr val="FBF3E2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Candidates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5844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34930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that proves they're real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3342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424281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in a crowded market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8406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07008" y="499262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verified profile, many jobs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3456432" y="1645920"/>
            <a:ext cx="2651760" cy="4251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370832" y="1965960"/>
            <a:ext cx="822960" cy="822960"/>
          </a:xfrm>
          <a:prstGeom prst="ellipse">
            <a:avLst/>
          </a:prstGeom>
          <a:solidFill>
            <a:srgbClr val="EAF0F8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802" y="2179930"/>
            <a:ext cx="395021" cy="39502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639312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Companies</a:t>
            </a:r>
            <a:endParaRPr lang="en-US" sz="17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358444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023360" y="34930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from pre-verified talent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464" y="4334256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023360" y="424281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profiles or fake certs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464" y="5084064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023360" y="499262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lower-risk shortlisting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6272784" y="1645920"/>
            <a:ext cx="2651760" cy="4251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7187184" y="1965960"/>
            <a:ext cx="822960" cy="822960"/>
          </a:xfrm>
          <a:prstGeom prst="ellipse">
            <a:avLst/>
          </a:prstGeom>
          <a:solidFill>
            <a:srgbClr val="FBF3E2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1154" y="2179930"/>
            <a:ext cx="395021" cy="395021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455664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Academies</a:t>
            </a:r>
            <a:endParaRPr lang="en-US" sz="17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3584448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839712" y="34930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graduate quality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816" y="4334256"/>
            <a:ext cx="237744" cy="23774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839712" y="424281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their own students' claims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8816" y="5084064"/>
            <a:ext cx="237744" cy="23774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839712" y="499262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 placement outcomes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9089136" y="1645920"/>
            <a:ext cx="2651760" cy="4251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5400000">
              <a:srgbClr val="B9C3D4">
                <a:alpha val="40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10003536" y="1965960"/>
            <a:ext cx="822960" cy="822960"/>
          </a:xfrm>
          <a:prstGeom prst="ellipse">
            <a:avLst/>
          </a:prstGeom>
          <a:solidFill>
            <a:srgbClr val="EAF0F8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7506" y="2179930"/>
            <a:ext cx="395021" cy="395021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9272016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Talentera Staff</a:t>
            </a:r>
            <a:endParaRPr lang="en-US" sz="17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5168" y="3584448"/>
            <a:ext cx="237744" cy="237744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9656064" y="34930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queues and dashboards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5168" y="4334256"/>
            <a:ext cx="237744" cy="237744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9656064" y="424281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fully audited</a:t>
            </a:r>
            <a:endParaRPr lang="en-US" sz="12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45168" y="5084064"/>
            <a:ext cx="237744" cy="237744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9656064" y="499262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platform integrity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45" name="Image 16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" y="6309360"/>
            <a:ext cx="117886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ln w="19050">
            <a:solidFill>
              <a:srgbClr val="17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0"/>
            <a:ext cx="4572000" cy="4572000"/>
          </a:xfrm>
          <a:prstGeom prst="ellipse">
            <a:avLst/>
          </a:prstGeom>
          <a:ln w="12700">
            <a:solidFill>
              <a:srgbClr val="E5A8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40080"/>
            <a:ext cx="2796645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claude/2e35316d-9902-56e8-b819-09f20673e793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795528"/>
            <a:ext cx="2357733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41848" y="1965960"/>
            <a:ext cx="914400" cy="914400"/>
          </a:xfrm>
          <a:prstGeom prst="ellipse">
            <a:avLst/>
          </a:prstGeom>
          <a:solidFill>
            <a:srgbClr val="E5A82E"/>
          </a:solidFill>
          <a:ln/>
          <a:effectLst>
            <a:outerShdw sx="100000" sy="100000" kx="0" ky="0" algn="bl" rotWithShape="0" blurRad="76200" dist="25400" dir="5400000">
              <a:srgbClr val="9AA7BD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203704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31546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Talent you can trust — proven before you meet them.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 · trusted training · real skills · connected hiring — all in one platform.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69748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69748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8056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056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364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9525">
            <a:solidFill>
              <a:srgbClr val="E5A82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Talentera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Talentera — System Overview</dc:title>
  <dc:subject>PptxGenJS Presentation</dc:subject>
  <dc:creator>Brand Forge</dc:creator>
  <cp:lastModifiedBy>Brand Forge</cp:lastModifiedBy>
  <cp:revision>1</cp:revision>
  <dcterms:created xsi:type="dcterms:W3CDTF">2026-09-10T06:12:46Z</dcterms:created>
  <dcterms:modified xsi:type="dcterms:W3CDTF">2026-09-10T06:12:46Z</dcterms:modified>
</cp:coreProperties>
</file>